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5" d="100"/>
          <a:sy n="125" d="100"/>
        </p:scale>
        <p:origin x="160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38323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FISCU Transition Evolution — Tracking Categories Across 1, 3, and 5 Years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77724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= current category  |  Columns = projected category  |  Dark diagonal cells = CUs that stay put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Year Out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3749040" cy="2240280"/>
          </a:xfrm>
          <a:prstGeom prst="rect">
            <a:avLst/>
          </a:prstGeom>
          <a:solidFill>
            <a:srgbClr val="F8F9FB"/>
          </a:solidFill>
          <a:ln w="12700">
            <a:solidFill>
              <a:srgbClr val="CADCFC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23545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FISCU matrix chart here 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297680" y="1097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Years Out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97680" y="1417320"/>
            <a:ext cx="3749040" cy="2240280"/>
          </a:xfrm>
          <a:prstGeom prst="rect">
            <a:avLst/>
          </a:prstGeom>
          <a:solidFill>
            <a:srgbClr val="F8F9FB"/>
          </a:solidFill>
          <a:ln w="12700">
            <a:solidFill>
              <a:srgbClr val="CADCFC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297680" y="23545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FISCU matrix chart here ]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0" y="1097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Years Out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0" y="1417320"/>
            <a:ext cx="3749040" cy="2240280"/>
          </a:xfrm>
          <a:prstGeom prst="rect">
            <a:avLst/>
          </a:prstGeom>
          <a:solidFill>
            <a:srgbClr val="F8F9FB"/>
          </a:solidFill>
          <a:ln w="12700">
            <a:solidFill>
              <a:srgbClr val="CADCFC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0" y="23545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Insert FISCU matrix chart here 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388620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each category's evolution over time: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5760" y="4197096"/>
            <a:ext cx="57607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"/>
              </a:spcAft>
              <a:buSzPct val="100000"/>
              <a:buChar char="■"/>
            </a:pPr>
            <a:r>
              <a:rPr lang="en-US" sz="10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5 ($500M–$1B)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standout migration zone. Retention drops 93% → 75% → 58%. 42% of these FISCUs become billion-dollar institutions by year 5.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3 ($50M–$100M)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accelerating consolidation. Retention drops 93% → 78% → 63%. One in three FISCUs grows past $100M by year 5.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5B9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6 ($1B–$10B)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heavier flow toward Dodd-Frank. 23 FISCUs (9%) cross $10B by year 5 — proportionally more than FCUs (7%).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2 ($10M–$50M)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small but persistent downward flow. 1–2% drop to Cat 1 at every horizon — a pattern essentially absent in FCUs.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0B1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1 and 7</a:t>
            </a: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system's anchors. Cat 1 (&lt;$10M): 99% → 99% → 96% retention. Cat 7 ($10B+): 100% retention always.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63640" y="4197096"/>
            <a:ext cx="5760720" cy="2606040"/>
          </a:xfrm>
          <a:prstGeom prst="rect">
            <a:avLst/>
          </a:prstGeom>
          <a:solidFill>
            <a:srgbClr val="0B1D3A"/>
          </a:solidFill>
          <a:ln w="12700">
            <a:solidFill>
              <a:srgbClr val="0B1D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92240" y="428853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92240" y="4581144"/>
            <a:ext cx="5303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"/>
              </a:spcAft>
              <a:buSzPct val="100000"/>
              <a:buChar char="■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FISCUs migrate faster than FCUs </a:t>
            </a: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particularly at the $1B threshold, where the system is concentrating into larger institutions more rapidly.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$10B crossing is more pronounced </a:t>
            </a: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more FISCUs proportionally are approaching the Dodd-Frank supervisory cliff.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Downward migration is real but small </a:t>
            </a: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1–2% of small FISCUs face genuine shrinkage risk, a pattern not seen on the federal side.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faster? </a:t>
            </a: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charters typically operate under more flexible regulatory frameworks and field-of-membership rules, allowing FISCUs to expand membership, products, and geographic reach more aggressively — which translates into faster asset growth.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" y="6629400"/>
            <a:ext cx="1143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NCUA Call Reports  |  Individual ARIMA forecasts of 1,613 active FISCUs as of 2025 Q3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359</Words>
  <Application>Microsoft Macintosh PowerPoint</Application>
  <PresentationFormat>Widescreen</PresentationFormat>
  <Paragraphs>28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Saurabh Datta</cp:lastModifiedBy>
  <cp:revision>1</cp:revision>
  <dcterms:created xsi:type="dcterms:W3CDTF">2026-04-28T13:44:04Z</dcterms:created>
  <dcterms:modified xsi:type="dcterms:W3CDTF">2026-04-28T13:45:30Z</dcterms:modified>
</cp:coreProperties>
</file>