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5" d="100"/>
          <a:sy n="125" d="100"/>
        </p:scale>
        <p:origin x="160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38763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FCU Transition Evolution — Tracking Categories Across 1, 3, and 5 Years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7724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= current category  |  Columns = projected category  |  Dark diagonal cells = CUs that stay put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11430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Year Out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3749040" cy="2377440"/>
          </a:xfrm>
          <a:prstGeom prst="rect">
            <a:avLst/>
          </a:prstGeom>
          <a:solidFill>
            <a:srgbClr val="F8F9FB"/>
          </a:solidFill>
          <a:ln w="12700">
            <a:solidFill>
              <a:srgbClr val="CADCFC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Insert matrix chart here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297680" y="11430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Years Out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97680" y="1463040"/>
            <a:ext cx="3749040" cy="2377440"/>
          </a:xfrm>
          <a:prstGeom prst="rect">
            <a:avLst/>
          </a:prstGeom>
          <a:solidFill>
            <a:srgbClr val="F8F9FB"/>
          </a:solidFill>
          <a:ln w="12700">
            <a:solidFill>
              <a:srgbClr val="CADCFC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29768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Insert matrix chart here ]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0" y="11430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Years Out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749040" cy="2377440"/>
          </a:xfrm>
          <a:prstGeom prst="rect">
            <a:avLst/>
          </a:prstGeom>
          <a:solidFill>
            <a:srgbClr val="F8F9FB"/>
          </a:solidFill>
          <a:ln w="12700">
            <a:solidFill>
              <a:srgbClr val="CADCFC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Insert matrix chart here 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3977640"/>
            <a:ext cx="11430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each category's evolution over time: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" y="4325112"/>
            <a:ext cx="5760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200"/>
              </a:spcAft>
              <a:buSzPct val="100000"/>
              <a:buChar char="■"/>
            </a:pPr>
            <a:r>
              <a:rPr lang="en-US" sz="110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3 ($50M–$100M)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most active migration zone. Retention drops 93% → 75% → 64%. Migration accelerates: 7% cross $100M in year 1, 23% by year 3, 34% by year 5.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5 ($500M–$1B)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billion-dollar pipeline. Retention drops 92% → 72% → 52%. By year 5, nearly half of these CUs become billion-dollar institutions.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6 ($1B–$10B)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path to Dodd-Frank. Retention 97% → 95% → 93%. Steady drip across $10B reshapes the supervisory landscape.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1 and 7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system's anchors. Cat 1 (&lt;$10M): 99% → 96% → 93% (slow erosion). Cat 7 ($10B+): 100% retention at every horizon.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63640" y="4325112"/>
            <a:ext cx="5760720" cy="2331720"/>
          </a:xfrm>
          <a:prstGeom prst="rect">
            <a:avLst/>
          </a:prstGeom>
          <a:solidFill>
            <a:srgbClr val="0B1D3A"/>
          </a:solidFill>
          <a:ln w="12700">
            <a:solidFill>
              <a:srgbClr val="0B1D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92240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4782312"/>
            <a:ext cx="53035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200"/>
              </a:spcAft>
              <a:buSzPct val="100000"/>
              <a:buChar char="■"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accelerates with time.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looks stable at 1 year reveals dramatic shifts by year 5.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Mid-range categories drive transformation.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3–5 are where movement happens; the extremes stay put.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flow is upward.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FCU system is not shrinking — it is concentrating into fewer, larger institutions.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6583680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NCUA Call Reports  |  Individual ARIMA forecasts of 2,713 active FCUs as of 2025 Q3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294</Words>
  <Application>Microsoft Macintosh PowerPoint</Application>
  <PresentationFormat>Widescreen</PresentationFormat>
  <Paragraphs>24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Saurabh Datta</cp:lastModifiedBy>
  <cp:revision>1</cp:revision>
  <dcterms:created xsi:type="dcterms:W3CDTF">2026-04-28T13:26:22Z</dcterms:created>
  <dcterms:modified xsi:type="dcterms:W3CDTF">2026-04-28T13:34:24Z</dcterms:modified>
</cp:coreProperties>
</file>