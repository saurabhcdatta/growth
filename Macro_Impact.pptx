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92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6576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Growth Drivers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forecast horizons — what to watch and what to do with each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703320" cy="4023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703320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QUARTERS AHEAD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8Q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8745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Horizon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745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for 2-year planning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SOFR–Fed Funds spread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savings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Undistributed corp profits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on Reserves spread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Net Worth Ratio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532120"/>
            <a:ext cx="3337560" cy="594360"/>
          </a:xfrm>
          <a:prstGeom prst="rect">
            <a:avLst/>
          </a:prstGeom>
          <a:solidFill>
            <a:srgbClr val="5B9BD5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55778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5779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planning, growth budgeting, stress-test scenarios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2194560"/>
            <a:ext cx="3703320" cy="4023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51960" y="2194560"/>
            <a:ext cx="3703320" cy="91440"/>
          </a:xfrm>
          <a:prstGeom prst="rect">
            <a:avLst/>
          </a:prstGeom>
          <a:solidFill>
            <a:srgbClr val="2EC4B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2377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QUARTERS AHEAD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2651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6Q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566928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Horizon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692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 positioning signals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374904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loan delinquency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prime rate spreads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Acquisition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Market Deposits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Field-of-membership growth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5532120"/>
            <a:ext cx="3337560" cy="594360"/>
          </a:xfrm>
          <a:prstGeom prst="rect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55778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5779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Funding-mix decisions, member growth strategy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2194560"/>
            <a:ext cx="3703320" cy="4023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2194560"/>
            <a:ext cx="3703320" cy="91440"/>
          </a:xfrm>
          <a:prstGeom prst="rect">
            <a:avLst/>
          </a:prstGeom>
          <a:solidFill>
            <a:srgbClr val="E76F5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21040" y="2377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QUARTERS AHEAD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26517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2Q</a:t>
            </a:r>
            <a:endParaRPr lang="en-US" sz="5000" dirty="0"/>
          </a:p>
        </p:txBody>
      </p:sp>
      <p:sp>
        <p:nvSpPr>
          <p:cNvPr id="29" name="Text 27"/>
          <p:cNvSpPr/>
          <p:nvPr/>
        </p:nvSpPr>
        <p:spPr>
          <a:xfrm>
            <a:off x="946404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Horizon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4640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credit-cycle warnings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374904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 Loan DQ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Lien RE Loan share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Interest Income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ratio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 UI benefit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5532120"/>
            <a:ext cx="3337560" cy="594360"/>
          </a:xfrm>
          <a:prstGeom prst="rect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66760" y="55778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66760" y="57790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monitoring, NIM and ROA management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ML (Ridge, LASSO, Elastic Net, Random Forest)  •  14 forecast targets  •  2005Q1 – 2025Q3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Drivers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signals that lead credit union growth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7498080" cy="5029200"/>
          </a:xfrm>
          <a:prstGeom prst="rect">
            <a:avLst/>
          </a:prstGeom>
          <a:solidFill>
            <a:srgbClr val="EEEEEE"/>
          </a:solidFill>
          <a:ln w="12700">
            <a:solidFill>
              <a:srgbClr val="5A657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S1_macro_drivers_leadtimes.png 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path in build_deck.js with full chart filepath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dominate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9842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spread indicators occupy the top 10 — SOFR–Fed Funds (15%, +8Q) tops the ranking, with Interest on Reserves, Prime, and Discount spreads each at 10% with 6–7Q leads.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leads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31729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C&amp;I loan delinquency at 13% importance with 7Q lead — business credit stress is the single non-spread tactical signal.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069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&amp; income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3616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labour-market indicators (initial claims, savings rate, corporate profits, UI benefits) cluster at 10–12% importance with mostly +8Q leads.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5257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 signals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555040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Claims and Industrial Production are real-time gauges — useful for nowcasting, not forecasting.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Ensemble ML across 14 forecast targets  |  Labels from FRB Variable Data Dictionary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Report Drivers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CU-specific operational variables that lead future growth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274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7498080" cy="5029200"/>
          </a:xfrm>
          <a:prstGeom prst="rect">
            <a:avLst/>
          </a:prstGeom>
          <a:solidFill>
            <a:srgbClr val="EEEEEE"/>
          </a:solidFill>
          <a:ln w="12700">
            <a:solidFill>
              <a:srgbClr val="5A657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S2_cr_drivers_leadtimes.png 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path in build_deck.js with full chart filepath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16916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acquisition is #1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9842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rate at 56% importance with 6Q lead — new members deposit and borrow over the following 18 months.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adequacy leads earliest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0" y="31729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Net Worth Ratio at 8Q lead — capital strength today predicts growth two years out.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069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loans dominate credit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436168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 loan delinquency, originations and avg loan size all show 2Q leads — auto is the credit-cycle bellwether.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5257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migration matters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555040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Market Deposits at 7Q lead — depositor flight to higher-yield products forecasts asset trajectory.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Ensemble ML across 14 forecast targets  |  Endogenous variables (lagged growth, market share, balance-sheet levels) excluded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474</Words>
  <Application>Microsoft Macintosh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Growth Drivers — Importance &amp; Lead Time</dc:title>
  <dc:subject>PptxGenJS Presentation</dc:subject>
  <dc:creator>CU Growth Forecast</dc:creator>
  <cp:lastModifiedBy>Saurabh Datta</cp:lastModifiedBy>
  <cp:revision>1</cp:revision>
  <dcterms:created xsi:type="dcterms:W3CDTF">2026-04-28T17:43:27Z</dcterms:created>
  <dcterms:modified xsi:type="dcterms:W3CDTF">2026-04-28T18:15:14Z</dcterms:modified>
</cp:coreProperties>
</file>