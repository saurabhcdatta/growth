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7" r:id="rId2"/>
    <p:sldId id="258" r:id="rId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5" d="100"/>
          <a:sy n="125" d="100"/>
        </p:scale>
        <p:origin x="160"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29200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marL="0" indent="0">
              <a:buNone/>
            </a:pPr>
            <a:r>
              <a:rPr lang="en-US" sz="2800" b="1" dirty="0">
                <a:solidFill>
                  <a:srgbClr val="0B1D3A"/>
                </a:solidFill>
                <a:latin typeface="Calibri" pitchFamily="34" charset="0"/>
                <a:ea typeface="Calibri" pitchFamily="34" charset="-122"/>
                <a:cs typeface="Calibri" pitchFamily="34" charset="-120"/>
              </a:rPr>
              <a:t>Macroeconomic Drivers</a:t>
            </a:r>
            <a:endParaRPr lang="en-US" sz="2800" dirty="0"/>
          </a:p>
        </p:txBody>
      </p:sp>
      <p:sp>
        <p:nvSpPr>
          <p:cNvPr id="3" name="Text 1"/>
          <p:cNvSpPr/>
          <p:nvPr/>
        </p:nvSpPr>
        <p:spPr>
          <a:xfrm>
            <a:off x="457200" y="777240"/>
            <a:ext cx="8229600" cy="320040"/>
          </a:xfrm>
          <a:prstGeom prst="rect">
            <a:avLst/>
          </a:prstGeom>
          <a:noFill/>
          <a:ln/>
        </p:spPr>
        <p:txBody>
          <a:bodyPr wrap="square" lIns="0" tIns="0" rIns="0" bIns="0" rtlCol="0" anchor="ctr"/>
          <a:lstStyle/>
          <a:p>
            <a:pPr marL="0" indent="0">
              <a:buNone/>
            </a:pPr>
            <a:r>
              <a:rPr lang="en-US" sz="1400" i="1" dirty="0">
                <a:solidFill>
                  <a:srgbClr val="5A6577"/>
                </a:solidFill>
                <a:latin typeface="Calibri" pitchFamily="34" charset="0"/>
                <a:ea typeface="Calibri" pitchFamily="34" charset="-122"/>
                <a:cs typeface="Calibri" pitchFamily="34" charset="-120"/>
              </a:rPr>
              <a:t>System-wide signals that lead credit union growth</a:t>
            </a:r>
            <a:endParaRPr lang="en-US" sz="1400" dirty="0"/>
          </a:p>
        </p:txBody>
      </p:sp>
      <p:sp>
        <p:nvSpPr>
          <p:cNvPr id="4" name="Text 2"/>
          <p:cNvSpPr/>
          <p:nvPr/>
        </p:nvSpPr>
        <p:spPr>
          <a:xfrm>
            <a:off x="11064240" y="274320"/>
            <a:ext cx="640080" cy="457200"/>
          </a:xfrm>
          <a:prstGeom prst="rect">
            <a:avLst/>
          </a:prstGeom>
          <a:noFill/>
          <a:ln/>
        </p:spPr>
        <p:txBody>
          <a:bodyPr wrap="square" lIns="0" tIns="0" rIns="0" bIns="0" rtlCol="0" anchor="ctr"/>
          <a:lstStyle/>
          <a:p>
            <a:pPr marL="0" indent="0" algn="r">
              <a:buNone/>
            </a:pPr>
            <a:r>
              <a:rPr lang="en-US" sz="2400" b="1" dirty="0">
                <a:solidFill>
                  <a:srgbClr val="5B9BD5"/>
                </a:solidFill>
                <a:latin typeface="Calibri" pitchFamily="34" charset="0"/>
                <a:ea typeface="Calibri" pitchFamily="34" charset="-122"/>
                <a:cs typeface="Calibri" pitchFamily="34" charset="-120"/>
              </a:rPr>
              <a:t>S1</a:t>
            </a:r>
            <a:endParaRPr lang="en-US" sz="2400" dirty="0"/>
          </a:p>
        </p:txBody>
      </p:sp>
      <p:sp>
        <p:nvSpPr>
          <p:cNvPr id="5" name="Shape 3"/>
          <p:cNvSpPr/>
          <p:nvPr/>
        </p:nvSpPr>
        <p:spPr>
          <a:xfrm>
            <a:off x="365760" y="1280160"/>
            <a:ext cx="7498080" cy="5029200"/>
          </a:xfrm>
          <a:prstGeom prst="rect">
            <a:avLst/>
          </a:prstGeom>
          <a:solidFill>
            <a:srgbClr val="EEEEEE"/>
          </a:solidFill>
          <a:ln w="12700">
            <a:solidFill>
              <a:srgbClr val="5A6577"/>
            </a:solidFill>
            <a:prstDash val="dash"/>
          </a:ln>
        </p:spPr>
        <p:txBody>
          <a:bodyPr/>
          <a:lstStyle/>
          <a:p>
            <a:endParaRPr lang="en-US"/>
          </a:p>
        </p:txBody>
      </p:sp>
      <p:sp>
        <p:nvSpPr>
          <p:cNvPr id="6" name="Text 4"/>
          <p:cNvSpPr/>
          <p:nvPr/>
        </p:nvSpPr>
        <p:spPr>
          <a:xfrm>
            <a:off x="365760" y="3383280"/>
            <a:ext cx="7498080" cy="822960"/>
          </a:xfrm>
          <a:prstGeom prst="rect">
            <a:avLst/>
          </a:prstGeom>
          <a:noFill/>
          <a:ln/>
        </p:spPr>
        <p:txBody>
          <a:bodyPr wrap="square" lIns="0" tIns="0" rIns="0" bIns="0" rtlCol="0" anchor="ctr"/>
          <a:lstStyle/>
          <a:p>
            <a:pPr marL="0" indent="0" algn="ctr">
              <a:buNone/>
            </a:pPr>
            <a:r>
              <a:rPr lang="en-US" sz="1400" i="1" dirty="0">
                <a:solidFill>
                  <a:srgbClr val="5A6577"/>
                </a:solidFill>
                <a:latin typeface="Calibri" pitchFamily="34" charset="0"/>
                <a:ea typeface="Calibri" pitchFamily="34" charset="-122"/>
                <a:cs typeface="Calibri" pitchFamily="34" charset="-120"/>
              </a:rPr>
              <a:t>[ S1_macro_drivers_leadtimes.png ]</a:t>
            </a:r>
            <a:endParaRPr lang="en-US" sz="1400" dirty="0"/>
          </a:p>
          <a:p>
            <a:pPr marL="0" indent="0" algn="ctr">
              <a:buNone/>
            </a:pPr>
            <a:r>
              <a:rPr lang="en-US" sz="1400" i="1" dirty="0">
                <a:solidFill>
                  <a:srgbClr val="5A6577"/>
                </a:solidFill>
                <a:latin typeface="Calibri" pitchFamily="34" charset="0"/>
                <a:ea typeface="Calibri" pitchFamily="34" charset="-122"/>
                <a:cs typeface="Calibri" pitchFamily="34" charset="-120"/>
              </a:rPr>
              <a:t>Replace path in build_deck.js with full chart filepath</a:t>
            </a:r>
            <a:endParaRPr lang="en-US" sz="1400" dirty="0"/>
          </a:p>
        </p:txBody>
      </p:sp>
      <p:sp>
        <p:nvSpPr>
          <p:cNvPr id="7" name="Text 5"/>
          <p:cNvSpPr/>
          <p:nvPr/>
        </p:nvSpPr>
        <p:spPr>
          <a:xfrm>
            <a:off x="8229600" y="1280160"/>
            <a:ext cx="3611880" cy="320040"/>
          </a:xfrm>
          <a:prstGeom prst="rect">
            <a:avLst/>
          </a:prstGeom>
          <a:noFill/>
          <a:ln/>
        </p:spPr>
        <p:txBody>
          <a:bodyPr wrap="square" lIns="0" tIns="0" rIns="0" bIns="0" rtlCol="0" anchor="ctr"/>
          <a:lstStyle/>
          <a:p>
            <a:pPr marL="0" indent="0">
              <a:buNone/>
            </a:pPr>
            <a:r>
              <a:rPr lang="en-US" sz="1100" b="1" kern="0" spc="400" dirty="0">
                <a:solidFill>
                  <a:srgbClr val="5B9BD5"/>
                </a:solidFill>
                <a:latin typeface="Calibri" pitchFamily="34" charset="0"/>
                <a:ea typeface="Calibri" pitchFamily="34" charset="-122"/>
                <a:cs typeface="Calibri" pitchFamily="34" charset="-120"/>
              </a:rPr>
              <a:t>KEY FINDINGS</a:t>
            </a:r>
            <a:endParaRPr lang="en-US" sz="1100" dirty="0"/>
          </a:p>
        </p:txBody>
      </p:sp>
      <p:sp>
        <p:nvSpPr>
          <p:cNvPr id="8" name="Text 6"/>
          <p:cNvSpPr/>
          <p:nvPr/>
        </p:nvSpPr>
        <p:spPr>
          <a:xfrm>
            <a:off x="8229600" y="1691640"/>
            <a:ext cx="3611880" cy="320040"/>
          </a:xfrm>
          <a:prstGeom prst="rect">
            <a:avLst/>
          </a:prstGeom>
          <a:noFill/>
          <a:ln/>
        </p:spPr>
        <p:txBody>
          <a:bodyPr wrap="square" lIns="0" tIns="0" rIns="0" bIns="0" rtlCol="0" anchor="ctr"/>
          <a:lstStyle/>
          <a:p>
            <a:pPr marL="0" indent="0">
              <a:buNone/>
            </a:pPr>
            <a:r>
              <a:rPr lang="en-US" sz="1300" b="1" dirty="0">
                <a:solidFill>
                  <a:srgbClr val="0B1D3A"/>
                </a:solidFill>
                <a:latin typeface="Calibri" pitchFamily="34" charset="0"/>
                <a:ea typeface="Calibri" pitchFamily="34" charset="-122"/>
                <a:cs typeface="Calibri" pitchFamily="34" charset="-120"/>
              </a:rPr>
              <a:t>Money-market spreads lead by 2 years</a:t>
            </a:r>
            <a:endParaRPr lang="en-US" sz="1300" dirty="0"/>
          </a:p>
        </p:txBody>
      </p:sp>
      <p:sp>
        <p:nvSpPr>
          <p:cNvPr id="9" name="Text 7"/>
          <p:cNvSpPr/>
          <p:nvPr/>
        </p:nvSpPr>
        <p:spPr>
          <a:xfrm>
            <a:off x="8229600" y="1984248"/>
            <a:ext cx="3611880" cy="868680"/>
          </a:xfrm>
          <a:prstGeom prst="rect">
            <a:avLst/>
          </a:prstGeom>
          <a:noFill/>
          <a:ln/>
        </p:spPr>
        <p:txBody>
          <a:bodyPr wrap="square" lIns="0" tIns="0" rIns="0" bIns="0" rtlCol="0" anchor="ctr"/>
          <a:lstStyle/>
          <a:p>
            <a:pPr marL="0" indent="0">
              <a:buNone/>
            </a:pPr>
            <a:r>
              <a:rPr lang="en-US" sz="1100" dirty="0">
                <a:solidFill>
                  <a:srgbClr val="5A6577"/>
                </a:solidFill>
                <a:latin typeface="Calibri" pitchFamily="34" charset="0"/>
                <a:ea typeface="Calibri" pitchFamily="34" charset="-122"/>
                <a:cs typeface="Calibri" pitchFamily="34" charset="-120"/>
              </a:rPr>
              <a:t>When the gap between key Fed-related interest rates widens or narrows, credit union growth shifts about two years later. Four of these spreads land in the top 10 — the most reliable early warning we have for capital planning.</a:t>
            </a:r>
            <a:endParaRPr lang="en-US" sz="1100" dirty="0"/>
          </a:p>
        </p:txBody>
      </p:sp>
      <p:sp>
        <p:nvSpPr>
          <p:cNvPr id="10" name="Text 8"/>
          <p:cNvSpPr/>
          <p:nvPr/>
        </p:nvSpPr>
        <p:spPr>
          <a:xfrm>
            <a:off x="8229600" y="2880360"/>
            <a:ext cx="3611880" cy="320040"/>
          </a:xfrm>
          <a:prstGeom prst="rect">
            <a:avLst/>
          </a:prstGeom>
          <a:noFill/>
          <a:ln/>
        </p:spPr>
        <p:txBody>
          <a:bodyPr wrap="square" lIns="0" tIns="0" rIns="0" bIns="0" rtlCol="0" anchor="ctr"/>
          <a:lstStyle/>
          <a:p>
            <a:pPr marL="0" indent="0">
              <a:buNone/>
            </a:pPr>
            <a:r>
              <a:rPr lang="en-US" sz="1300" b="1" dirty="0">
                <a:solidFill>
                  <a:srgbClr val="0B1D3A"/>
                </a:solidFill>
                <a:latin typeface="Calibri" pitchFamily="34" charset="0"/>
                <a:ea typeface="Calibri" pitchFamily="34" charset="-122"/>
                <a:cs typeface="Calibri" pitchFamily="34" charset="-120"/>
              </a:rPr>
              <a:t>Business loan defaults predict CU slowdowns</a:t>
            </a:r>
            <a:endParaRPr lang="en-US" sz="1300" dirty="0"/>
          </a:p>
        </p:txBody>
      </p:sp>
      <p:sp>
        <p:nvSpPr>
          <p:cNvPr id="11" name="Text 9"/>
          <p:cNvSpPr/>
          <p:nvPr/>
        </p:nvSpPr>
        <p:spPr>
          <a:xfrm>
            <a:off x="8229600" y="3172968"/>
            <a:ext cx="3611880" cy="868680"/>
          </a:xfrm>
          <a:prstGeom prst="rect">
            <a:avLst/>
          </a:prstGeom>
          <a:noFill/>
          <a:ln/>
        </p:spPr>
        <p:txBody>
          <a:bodyPr wrap="square" lIns="0" tIns="0" rIns="0" bIns="0" rtlCol="0" anchor="ctr"/>
          <a:lstStyle/>
          <a:p>
            <a:pPr marL="0" indent="0">
              <a:buNone/>
            </a:pPr>
            <a:r>
              <a:rPr lang="en-US" sz="1100" dirty="0">
                <a:solidFill>
                  <a:srgbClr val="5A6577"/>
                </a:solidFill>
                <a:latin typeface="Calibri" pitchFamily="34" charset="0"/>
                <a:ea typeface="Calibri" pitchFamily="34" charset="-122"/>
                <a:cs typeface="Calibri" pitchFamily="34" charset="-120"/>
              </a:rPr>
              <a:t>When commercial and industrial loan delinquencies rise at banks, credit union growth tends to slow about seven quarters later. It's the single best non-spread indicator — when business credit deteriorates, the broader credit cycle is turning, and credit unions feel it next.</a:t>
            </a:r>
            <a:endParaRPr lang="en-US" sz="1100" dirty="0"/>
          </a:p>
        </p:txBody>
      </p:sp>
      <p:sp>
        <p:nvSpPr>
          <p:cNvPr id="12" name="Text 10"/>
          <p:cNvSpPr/>
          <p:nvPr/>
        </p:nvSpPr>
        <p:spPr>
          <a:xfrm>
            <a:off x="8229600" y="4069080"/>
            <a:ext cx="3611880" cy="320040"/>
          </a:xfrm>
          <a:prstGeom prst="rect">
            <a:avLst/>
          </a:prstGeom>
          <a:noFill/>
          <a:ln/>
        </p:spPr>
        <p:txBody>
          <a:bodyPr wrap="square" lIns="0" tIns="0" rIns="0" bIns="0" rtlCol="0" anchor="ctr"/>
          <a:lstStyle/>
          <a:p>
            <a:pPr marL="0" indent="0">
              <a:buNone/>
            </a:pPr>
            <a:r>
              <a:rPr lang="en-US" sz="1300" b="1" dirty="0">
                <a:solidFill>
                  <a:srgbClr val="0B1D3A"/>
                </a:solidFill>
                <a:latin typeface="Calibri" pitchFamily="34" charset="0"/>
                <a:ea typeface="Calibri" pitchFamily="34" charset="-122"/>
                <a:cs typeface="Calibri" pitchFamily="34" charset="-120"/>
              </a:rPr>
              <a:t>Labour signals confirm bad times, not good ones</a:t>
            </a:r>
            <a:endParaRPr lang="en-US" sz="1300" dirty="0"/>
          </a:p>
        </p:txBody>
      </p:sp>
      <p:sp>
        <p:nvSpPr>
          <p:cNvPr id="13" name="Text 11"/>
          <p:cNvSpPr/>
          <p:nvPr/>
        </p:nvSpPr>
        <p:spPr>
          <a:xfrm>
            <a:off x="8229600" y="4361688"/>
            <a:ext cx="3611880" cy="868680"/>
          </a:xfrm>
          <a:prstGeom prst="rect">
            <a:avLst/>
          </a:prstGeom>
          <a:noFill/>
          <a:ln/>
        </p:spPr>
        <p:txBody>
          <a:bodyPr wrap="square" lIns="0" tIns="0" rIns="0" bIns="0" rtlCol="0" anchor="ctr"/>
          <a:lstStyle/>
          <a:p>
            <a:pPr marL="0" indent="0">
              <a:buNone/>
            </a:pPr>
            <a:r>
              <a:rPr lang="en-US" sz="1100" dirty="0">
                <a:solidFill>
                  <a:srgbClr val="5A6577"/>
                </a:solidFill>
                <a:latin typeface="Calibri" pitchFamily="34" charset="0"/>
                <a:ea typeface="Calibri" pitchFamily="34" charset="-122"/>
                <a:cs typeface="Calibri" pitchFamily="34" charset="-120"/>
              </a:rPr>
              <a:t>Initial unemployment claims, savings rates, UI benefits, and corporate profits all show up as predictors — but three of these only spike when the economy is already under stress. They're useful for confirming a downturn is underway, not for spotting an upswing before it starts.</a:t>
            </a:r>
            <a:endParaRPr lang="en-US" sz="1100" dirty="0"/>
          </a:p>
        </p:txBody>
      </p:sp>
      <p:sp>
        <p:nvSpPr>
          <p:cNvPr id="14" name="Text 12"/>
          <p:cNvSpPr/>
          <p:nvPr/>
        </p:nvSpPr>
        <p:spPr>
          <a:xfrm>
            <a:off x="8229600" y="5257800"/>
            <a:ext cx="3611880" cy="320040"/>
          </a:xfrm>
          <a:prstGeom prst="rect">
            <a:avLst/>
          </a:prstGeom>
          <a:noFill/>
          <a:ln/>
        </p:spPr>
        <p:txBody>
          <a:bodyPr wrap="square" lIns="0" tIns="0" rIns="0" bIns="0" rtlCol="0" anchor="ctr"/>
          <a:lstStyle/>
          <a:p>
            <a:pPr marL="0" indent="0">
              <a:buNone/>
            </a:pPr>
            <a:r>
              <a:rPr lang="en-US" sz="1300" b="1" dirty="0">
                <a:solidFill>
                  <a:srgbClr val="0B1D3A"/>
                </a:solidFill>
                <a:latin typeface="Calibri" pitchFamily="34" charset="0"/>
                <a:ea typeface="Calibri" pitchFamily="34" charset="-122"/>
                <a:cs typeface="Calibri" pitchFamily="34" charset="-120"/>
              </a:rPr>
              <a:t>Two indicators flag downturns in real time</a:t>
            </a:r>
            <a:endParaRPr lang="en-US" sz="1300" dirty="0"/>
          </a:p>
        </p:txBody>
      </p:sp>
      <p:sp>
        <p:nvSpPr>
          <p:cNvPr id="15" name="Text 13"/>
          <p:cNvSpPr/>
          <p:nvPr/>
        </p:nvSpPr>
        <p:spPr>
          <a:xfrm>
            <a:off x="8229600" y="5550408"/>
            <a:ext cx="3611880" cy="868680"/>
          </a:xfrm>
          <a:prstGeom prst="rect">
            <a:avLst/>
          </a:prstGeom>
          <a:noFill/>
          <a:ln/>
        </p:spPr>
        <p:txBody>
          <a:bodyPr wrap="square" lIns="0" tIns="0" rIns="0" bIns="0" rtlCol="0" anchor="ctr"/>
          <a:lstStyle/>
          <a:p>
            <a:pPr marL="0" indent="0">
              <a:buNone/>
            </a:pPr>
            <a:r>
              <a:rPr lang="en-US" sz="1100" dirty="0">
                <a:solidFill>
                  <a:srgbClr val="5A6577"/>
                </a:solidFill>
                <a:latin typeface="Calibri" pitchFamily="34" charset="0"/>
                <a:ea typeface="Calibri" pitchFamily="34" charset="-122"/>
                <a:cs typeface="Calibri" pitchFamily="34" charset="-120"/>
              </a:rPr>
              <a:t>Initial Claims sits in the Conference Board's Leading Economic Index, and Industrial Production is one of NBER's coincident measures used to date recessions. They show 0Q lead because credit unions feel a downturn at the same time as the broader economy — use them to confirm a recession in progress.</a:t>
            </a:r>
            <a:endParaRPr lang="en-US" sz="1100" dirty="0"/>
          </a:p>
        </p:txBody>
      </p:sp>
      <p:sp>
        <p:nvSpPr>
          <p:cNvPr id="16" name="Text 14"/>
          <p:cNvSpPr/>
          <p:nvPr/>
        </p:nvSpPr>
        <p:spPr>
          <a:xfrm>
            <a:off x="457200" y="6492240"/>
            <a:ext cx="10972800" cy="274320"/>
          </a:xfrm>
          <a:prstGeom prst="rect">
            <a:avLst/>
          </a:prstGeom>
          <a:noFill/>
          <a:ln/>
        </p:spPr>
        <p:txBody>
          <a:bodyPr wrap="square" lIns="0" tIns="0" rIns="0" bIns="0" rtlCol="0" anchor="ctr"/>
          <a:lstStyle/>
          <a:p>
            <a:pPr marL="0" indent="0">
              <a:buNone/>
            </a:pPr>
            <a:r>
              <a:rPr lang="en-US" sz="900" i="1" dirty="0">
                <a:solidFill>
                  <a:srgbClr val="5A6577"/>
                </a:solidFill>
                <a:latin typeface="Calibri" pitchFamily="34" charset="0"/>
                <a:ea typeface="Calibri" pitchFamily="34" charset="-122"/>
                <a:cs typeface="Calibri" pitchFamily="34" charset="-120"/>
              </a:rPr>
              <a:t>Source: Ensemble ML across 14 forecast targets  |  Labels from FRB Variable Data Dictionary</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marL="0" indent="0">
              <a:buNone/>
            </a:pPr>
            <a:r>
              <a:rPr lang="en-US" sz="2800" b="1" dirty="0">
                <a:solidFill>
                  <a:srgbClr val="0B1D3A"/>
                </a:solidFill>
                <a:latin typeface="Calibri" pitchFamily="34" charset="0"/>
                <a:ea typeface="Calibri" pitchFamily="34" charset="-122"/>
                <a:cs typeface="Calibri" pitchFamily="34" charset="-120"/>
              </a:rPr>
              <a:t>Call Report Drivers</a:t>
            </a:r>
            <a:endParaRPr lang="en-US" sz="2800" dirty="0"/>
          </a:p>
        </p:txBody>
      </p:sp>
      <p:sp>
        <p:nvSpPr>
          <p:cNvPr id="3" name="Text 1"/>
          <p:cNvSpPr/>
          <p:nvPr/>
        </p:nvSpPr>
        <p:spPr>
          <a:xfrm>
            <a:off x="457200" y="777240"/>
            <a:ext cx="8229600" cy="320040"/>
          </a:xfrm>
          <a:prstGeom prst="rect">
            <a:avLst/>
          </a:prstGeom>
          <a:noFill/>
          <a:ln/>
        </p:spPr>
        <p:txBody>
          <a:bodyPr wrap="square" lIns="0" tIns="0" rIns="0" bIns="0" rtlCol="0" anchor="ctr"/>
          <a:lstStyle/>
          <a:p>
            <a:pPr marL="0" indent="0">
              <a:buNone/>
            </a:pPr>
            <a:r>
              <a:rPr lang="en-US" sz="1400" i="1" dirty="0">
                <a:solidFill>
                  <a:srgbClr val="5A6577"/>
                </a:solidFill>
                <a:latin typeface="Calibri" pitchFamily="34" charset="0"/>
                <a:ea typeface="Calibri" pitchFamily="34" charset="-122"/>
                <a:cs typeface="Calibri" pitchFamily="34" charset="-120"/>
              </a:rPr>
              <a:t>CU-specific operational variables that lead future growth</a:t>
            </a:r>
            <a:endParaRPr lang="en-US" sz="1400" dirty="0"/>
          </a:p>
        </p:txBody>
      </p:sp>
      <p:sp>
        <p:nvSpPr>
          <p:cNvPr id="4" name="Text 2"/>
          <p:cNvSpPr/>
          <p:nvPr/>
        </p:nvSpPr>
        <p:spPr>
          <a:xfrm>
            <a:off x="11064240" y="274320"/>
            <a:ext cx="640080" cy="457200"/>
          </a:xfrm>
          <a:prstGeom prst="rect">
            <a:avLst/>
          </a:prstGeom>
          <a:noFill/>
          <a:ln/>
        </p:spPr>
        <p:txBody>
          <a:bodyPr wrap="square" lIns="0" tIns="0" rIns="0" bIns="0" rtlCol="0" anchor="ctr"/>
          <a:lstStyle/>
          <a:p>
            <a:pPr marL="0" indent="0" algn="r">
              <a:buNone/>
            </a:pPr>
            <a:r>
              <a:rPr lang="en-US" sz="2400" b="1" dirty="0">
                <a:solidFill>
                  <a:srgbClr val="2EC4B6"/>
                </a:solidFill>
                <a:latin typeface="Calibri" pitchFamily="34" charset="0"/>
                <a:ea typeface="Calibri" pitchFamily="34" charset="-122"/>
                <a:cs typeface="Calibri" pitchFamily="34" charset="-120"/>
              </a:rPr>
              <a:t>S2</a:t>
            </a:r>
            <a:endParaRPr lang="en-US" sz="2400" dirty="0"/>
          </a:p>
        </p:txBody>
      </p:sp>
      <p:sp>
        <p:nvSpPr>
          <p:cNvPr id="5" name="Shape 3"/>
          <p:cNvSpPr/>
          <p:nvPr/>
        </p:nvSpPr>
        <p:spPr>
          <a:xfrm>
            <a:off x="365760" y="1280160"/>
            <a:ext cx="7498080" cy="5029200"/>
          </a:xfrm>
          <a:prstGeom prst="rect">
            <a:avLst/>
          </a:prstGeom>
          <a:solidFill>
            <a:srgbClr val="EEEEEE"/>
          </a:solidFill>
          <a:ln w="12700">
            <a:solidFill>
              <a:srgbClr val="5A6577"/>
            </a:solidFill>
            <a:prstDash val="dash"/>
          </a:ln>
        </p:spPr>
        <p:txBody>
          <a:bodyPr/>
          <a:lstStyle/>
          <a:p>
            <a:endParaRPr lang="en-US"/>
          </a:p>
        </p:txBody>
      </p:sp>
      <p:sp>
        <p:nvSpPr>
          <p:cNvPr id="6" name="Text 4"/>
          <p:cNvSpPr/>
          <p:nvPr/>
        </p:nvSpPr>
        <p:spPr>
          <a:xfrm>
            <a:off x="365760" y="3383280"/>
            <a:ext cx="7498080" cy="822960"/>
          </a:xfrm>
          <a:prstGeom prst="rect">
            <a:avLst/>
          </a:prstGeom>
          <a:noFill/>
          <a:ln/>
        </p:spPr>
        <p:txBody>
          <a:bodyPr wrap="square" lIns="0" tIns="0" rIns="0" bIns="0" rtlCol="0" anchor="ctr"/>
          <a:lstStyle/>
          <a:p>
            <a:pPr marL="0" indent="0" algn="ctr">
              <a:buNone/>
            </a:pPr>
            <a:r>
              <a:rPr lang="en-US" sz="1400" i="1" dirty="0">
                <a:solidFill>
                  <a:srgbClr val="5A6577"/>
                </a:solidFill>
                <a:latin typeface="Calibri" pitchFamily="34" charset="0"/>
                <a:ea typeface="Calibri" pitchFamily="34" charset="-122"/>
                <a:cs typeface="Calibri" pitchFamily="34" charset="-120"/>
              </a:rPr>
              <a:t>[ S2_cr_drivers_leadtimes.png ]</a:t>
            </a:r>
            <a:endParaRPr lang="en-US" sz="1400" dirty="0"/>
          </a:p>
          <a:p>
            <a:pPr marL="0" indent="0" algn="ctr">
              <a:buNone/>
            </a:pPr>
            <a:r>
              <a:rPr lang="en-US" sz="1400" i="1" dirty="0">
                <a:solidFill>
                  <a:srgbClr val="5A6577"/>
                </a:solidFill>
                <a:latin typeface="Calibri" pitchFamily="34" charset="0"/>
                <a:ea typeface="Calibri" pitchFamily="34" charset="-122"/>
                <a:cs typeface="Calibri" pitchFamily="34" charset="-120"/>
              </a:rPr>
              <a:t>Replace path in build_deck.js with full chart filepath</a:t>
            </a:r>
            <a:endParaRPr lang="en-US" sz="1400" dirty="0"/>
          </a:p>
        </p:txBody>
      </p:sp>
      <p:sp>
        <p:nvSpPr>
          <p:cNvPr id="7" name="Text 5"/>
          <p:cNvSpPr/>
          <p:nvPr/>
        </p:nvSpPr>
        <p:spPr>
          <a:xfrm>
            <a:off x="8229600" y="1280160"/>
            <a:ext cx="3611880" cy="320040"/>
          </a:xfrm>
          <a:prstGeom prst="rect">
            <a:avLst/>
          </a:prstGeom>
          <a:noFill/>
          <a:ln/>
        </p:spPr>
        <p:txBody>
          <a:bodyPr wrap="square" lIns="0" tIns="0" rIns="0" bIns="0" rtlCol="0" anchor="ctr"/>
          <a:lstStyle/>
          <a:p>
            <a:pPr marL="0" indent="0">
              <a:buNone/>
            </a:pPr>
            <a:r>
              <a:rPr lang="en-US" sz="1100" b="1" kern="0" spc="400" dirty="0">
                <a:solidFill>
                  <a:srgbClr val="2EC4B6"/>
                </a:solidFill>
                <a:latin typeface="Calibri" pitchFamily="34" charset="0"/>
                <a:ea typeface="Calibri" pitchFamily="34" charset="-122"/>
                <a:cs typeface="Calibri" pitchFamily="34" charset="-120"/>
              </a:rPr>
              <a:t>KEY FINDINGS</a:t>
            </a:r>
            <a:endParaRPr lang="en-US" sz="1100" dirty="0"/>
          </a:p>
        </p:txBody>
      </p:sp>
      <p:sp>
        <p:nvSpPr>
          <p:cNvPr id="8" name="Text 6"/>
          <p:cNvSpPr/>
          <p:nvPr/>
        </p:nvSpPr>
        <p:spPr>
          <a:xfrm>
            <a:off x="8229600" y="1691640"/>
            <a:ext cx="3611880" cy="320040"/>
          </a:xfrm>
          <a:prstGeom prst="rect">
            <a:avLst/>
          </a:prstGeom>
          <a:noFill/>
          <a:ln/>
        </p:spPr>
        <p:txBody>
          <a:bodyPr wrap="square" lIns="0" tIns="0" rIns="0" bIns="0" rtlCol="0" anchor="ctr"/>
          <a:lstStyle/>
          <a:p>
            <a:pPr marL="0" indent="0">
              <a:buNone/>
            </a:pPr>
            <a:r>
              <a:rPr lang="en-US" sz="1300" b="1" dirty="0">
                <a:solidFill>
                  <a:srgbClr val="0B1D3A"/>
                </a:solidFill>
                <a:latin typeface="Calibri" pitchFamily="34" charset="0"/>
                <a:ea typeface="Calibri" pitchFamily="34" charset="-122"/>
                <a:cs typeface="Calibri" pitchFamily="34" charset="-120"/>
              </a:rPr>
              <a:t>Member growth is the strongest signal</a:t>
            </a:r>
            <a:endParaRPr lang="en-US" sz="1300" dirty="0"/>
          </a:p>
        </p:txBody>
      </p:sp>
      <p:sp>
        <p:nvSpPr>
          <p:cNvPr id="9" name="Text 7"/>
          <p:cNvSpPr/>
          <p:nvPr/>
        </p:nvSpPr>
        <p:spPr>
          <a:xfrm>
            <a:off x="8229600" y="1984248"/>
            <a:ext cx="3611880" cy="868680"/>
          </a:xfrm>
          <a:prstGeom prst="rect">
            <a:avLst/>
          </a:prstGeom>
          <a:noFill/>
          <a:ln/>
        </p:spPr>
        <p:txBody>
          <a:bodyPr wrap="square" lIns="0" tIns="0" rIns="0" bIns="0" rtlCol="0" anchor="ctr"/>
          <a:lstStyle/>
          <a:p>
            <a:pPr marL="0" indent="0">
              <a:buNone/>
            </a:pPr>
            <a:r>
              <a:rPr lang="en-US" sz="1100" dirty="0">
                <a:solidFill>
                  <a:srgbClr val="5A6577"/>
                </a:solidFill>
                <a:latin typeface="Calibri" pitchFamily="34" charset="0"/>
                <a:ea typeface="Calibri" pitchFamily="34" charset="-122"/>
                <a:cs typeface="Calibri" pitchFamily="34" charset="-120"/>
              </a:rPr>
              <a:t>The rate at which credit unions are gaining new members is more than twice as predictive as any other variable in our analysis. New members deposit, borrow, and use products over the following 18 months — making membership growth today the single best predictor of asset growth tomorrow.</a:t>
            </a:r>
            <a:endParaRPr lang="en-US" sz="1100" dirty="0"/>
          </a:p>
        </p:txBody>
      </p:sp>
      <p:sp>
        <p:nvSpPr>
          <p:cNvPr id="10" name="Text 8"/>
          <p:cNvSpPr/>
          <p:nvPr/>
        </p:nvSpPr>
        <p:spPr>
          <a:xfrm>
            <a:off x="8229600" y="2880360"/>
            <a:ext cx="3611880" cy="320040"/>
          </a:xfrm>
          <a:prstGeom prst="rect">
            <a:avLst/>
          </a:prstGeom>
          <a:noFill/>
          <a:ln/>
        </p:spPr>
        <p:txBody>
          <a:bodyPr wrap="square" lIns="0" tIns="0" rIns="0" bIns="0" rtlCol="0" anchor="ctr"/>
          <a:lstStyle/>
          <a:p>
            <a:pPr marL="0" indent="0">
              <a:buNone/>
            </a:pPr>
            <a:r>
              <a:rPr lang="en-US" sz="1300" b="1" dirty="0">
                <a:solidFill>
                  <a:srgbClr val="0B1D3A"/>
                </a:solidFill>
                <a:latin typeface="Calibri" pitchFamily="34" charset="0"/>
                <a:ea typeface="Calibri" pitchFamily="34" charset="-122"/>
                <a:cs typeface="Calibri" pitchFamily="34" charset="-120"/>
              </a:rPr>
              <a:t>Capital strength predicts growth 2 years out</a:t>
            </a:r>
            <a:endParaRPr lang="en-US" sz="1300" dirty="0"/>
          </a:p>
        </p:txBody>
      </p:sp>
      <p:sp>
        <p:nvSpPr>
          <p:cNvPr id="11" name="Text 9"/>
          <p:cNvSpPr/>
          <p:nvPr/>
        </p:nvSpPr>
        <p:spPr>
          <a:xfrm>
            <a:off x="8229600" y="3172968"/>
            <a:ext cx="3611880" cy="868680"/>
          </a:xfrm>
          <a:prstGeom prst="rect">
            <a:avLst/>
          </a:prstGeom>
          <a:noFill/>
          <a:ln/>
        </p:spPr>
        <p:txBody>
          <a:bodyPr wrap="square" lIns="0" tIns="0" rIns="0" bIns="0" rtlCol="0" anchor="ctr"/>
          <a:lstStyle/>
          <a:p>
            <a:pPr marL="0" indent="0">
              <a:buNone/>
            </a:pPr>
            <a:r>
              <a:rPr lang="en-US" sz="1100" dirty="0">
                <a:solidFill>
                  <a:srgbClr val="5A6577"/>
                </a:solidFill>
                <a:latin typeface="Calibri" pitchFamily="34" charset="0"/>
                <a:ea typeface="Calibri" pitchFamily="34" charset="-122"/>
                <a:cs typeface="Calibri" pitchFamily="34" charset="-120"/>
              </a:rPr>
              <a:t>The PCA Net Worth Ratio — how well-capitalized credit unions are — leads CU growth by eight quarters, the longest lead time of any operational variable. Strong capital today gives credit unions room to grow lending and serve more members through the next cycle.</a:t>
            </a:r>
            <a:endParaRPr lang="en-US" sz="1100" dirty="0"/>
          </a:p>
        </p:txBody>
      </p:sp>
      <p:sp>
        <p:nvSpPr>
          <p:cNvPr id="12" name="Text 10"/>
          <p:cNvSpPr/>
          <p:nvPr/>
        </p:nvSpPr>
        <p:spPr>
          <a:xfrm>
            <a:off x="8229600" y="4069080"/>
            <a:ext cx="3611880" cy="320040"/>
          </a:xfrm>
          <a:prstGeom prst="rect">
            <a:avLst/>
          </a:prstGeom>
          <a:noFill/>
          <a:ln/>
        </p:spPr>
        <p:txBody>
          <a:bodyPr wrap="square" lIns="0" tIns="0" rIns="0" bIns="0" rtlCol="0" anchor="ctr"/>
          <a:lstStyle/>
          <a:p>
            <a:pPr marL="0" indent="0">
              <a:buNone/>
            </a:pPr>
            <a:r>
              <a:rPr lang="en-US" sz="1300" b="1" dirty="0">
                <a:solidFill>
                  <a:srgbClr val="0B1D3A"/>
                </a:solidFill>
                <a:latin typeface="Calibri" pitchFamily="34" charset="0"/>
                <a:ea typeface="Calibri" pitchFamily="34" charset="-122"/>
                <a:cs typeface="Calibri" pitchFamily="34" charset="-120"/>
              </a:rPr>
              <a:t>Auto lending is the near-term warning</a:t>
            </a:r>
            <a:endParaRPr lang="en-US" sz="1300" dirty="0"/>
          </a:p>
        </p:txBody>
      </p:sp>
      <p:sp>
        <p:nvSpPr>
          <p:cNvPr id="13" name="Text 11"/>
          <p:cNvSpPr/>
          <p:nvPr/>
        </p:nvSpPr>
        <p:spPr>
          <a:xfrm>
            <a:off x="8229600" y="4361688"/>
            <a:ext cx="3611880" cy="868680"/>
          </a:xfrm>
          <a:prstGeom prst="rect">
            <a:avLst/>
          </a:prstGeom>
          <a:noFill/>
          <a:ln/>
        </p:spPr>
        <p:txBody>
          <a:bodyPr wrap="square" lIns="0" tIns="0" rIns="0" bIns="0" rtlCol="0" anchor="ctr"/>
          <a:lstStyle/>
          <a:p>
            <a:pPr marL="0" indent="0">
              <a:buNone/>
            </a:pPr>
            <a:r>
              <a:rPr lang="en-US" sz="1100" dirty="0">
                <a:solidFill>
                  <a:srgbClr val="5A6577"/>
                </a:solidFill>
                <a:latin typeface="Calibri" pitchFamily="34" charset="0"/>
                <a:ea typeface="Calibri" pitchFamily="34" charset="-122"/>
                <a:cs typeface="Calibri" pitchFamily="34" charset="-120"/>
              </a:rPr>
              <a:t>Five of the top 10 operational predictors are auto- or lending-related, all leading by about two quarters. When auto delinquency rises or auto loan originations slow, broader credit-cycle pressure usually follows within six months. Watch auto for the earliest operational sign of trouble.</a:t>
            </a:r>
            <a:endParaRPr lang="en-US" sz="1100" dirty="0"/>
          </a:p>
        </p:txBody>
      </p:sp>
      <p:sp>
        <p:nvSpPr>
          <p:cNvPr id="14" name="Text 12"/>
          <p:cNvSpPr/>
          <p:nvPr/>
        </p:nvSpPr>
        <p:spPr>
          <a:xfrm>
            <a:off x="8229600" y="5257800"/>
            <a:ext cx="3611880" cy="320040"/>
          </a:xfrm>
          <a:prstGeom prst="rect">
            <a:avLst/>
          </a:prstGeom>
          <a:noFill/>
          <a:ln/>
        </p:spPr>
        <p:txBody>
          <a:bodyPr wrap="square" lIns="0" tIns="0" rIns="0" bIns="0" rtlCol="0" anchor="ctr"/>
          <a:lstStyle/>
          <a:p>
            <a:pPr marL="0" indent="0">
              <a:buNone/>
            </a:pPr>
            <a:r>
              <a:rPr lang="en-US" sz="1300" b="1" dirty="0">
                <a:solidFill>
                  <a:srgbClr val="0B1D3A"/>
                </a:solidFill>
                <a:latin typeface="Calibri" pitchFamily="34" charset="0"/>
                <a:ea typeface="Calibri" pitchFamily="34" charset="-122"/>
                <a:cs typeface="Calibri" pitchFamily="34" charset="-120"/>
              </a:rPr>
              <a:t>Money-market shifts are an early funding signal</a:t>
            </a:r>
            <a:endParaRPr lang="en-US" sz="1300" dirty="0"/>
          </a:p>
        </p:txBody>
      </p:sp>
      <p:sp>
        <p:nvSpPr>
          <p:cNvPr id="15" name="Text 13"/>
          <p:cNvSpPr/>
          <p:nvPr/>
        </p:nvSpPr>
        <p:spPr>
          <a:xfrm>
            <a:off x="8229600" y="5550408"/>
            <a:ext cx="3611880" cy="868680"/>
          </a:xfrm>
          <a:prstGeom prst="rect">
            <a:avLst/>
          </a:prstGeom>
          <a:noFill/>
          <a:ln/>
        </p:spPr>
        <p:txBody>
          <a:bodyPr wrap="square" lIns="0" tIns="0" rIns="0" bIns="0" rtlCol="0" anchor="ctr"/>
          <a:lstStyle/>
          <a:p>
            <a:pPr marL="0" indent="0">
              <a:buNone/>
            </a:pPr>
            <a:r>
              <a:rPr lang="en-US" sz="1100" dirty="0">
                <a:solidFill>
                  <a:srgbClr val="5A6577"/>
                </a:solidFill>
                <a:latin typeface="Calibri" pitchFamily="34" charset="0"/>
                <a:ea typeface="Calibri" pitchFamily="34" charset="-122"/>
                <a:cs typeface="Calibri" pitchFamily="34" charset="-120"/>
              </a:rPr>
              <a:t>When members move savings out of regular shares into higher-yield money market deposits, it predicts asset-growth shifts about seven quarters later. This "deposit migration" reflects rate competition and member behaviour change before either shows up in the headline numbers.</a:t>
            </a:r>
            <a:endParaRPr lang="en-US" sz="1100" dirty="0"/>
          </a:p>
        </p:txBody>
      </p:sp>
      <p:sp>
        <p:nvSpPr>
          <p:cNvPr id="16" name="Text 14"/>
          <p:cNvSpPr/>
          <p:nvPr/>
        </p:nvSpPr>
        <p:spPr>
          <a:xfrm>
            <a:off x="457200" y="6492240"/>
            <a:ext cx="10972800" cy="274320"/>
          </a:xfrm>
          <a:prstGeom prst="rect">
            <a:avLst/>
          </a:prstGeom>
          <a:noFill/>
          <a:ln/>
        </p:spPr>
        <p:txBody>
          <a:bodyPr wrap="square" lIns="0" tIns="0" rIns="0" bIns="0" rtlCol="0" anchor="ctr"/>
          <a:lstStyle/>
          <a:p>
            <a:pPr marL="0" indent="0">
              <a:buNone/>
            </a:pPr>
            <a:r>
              <a:rPr lang="en-US" sz="900" i="1" dirty="0">
                <a:solidFill>
                  <a:srgbClr val="5A6577"/>
                </a:solidFill>
                <a:latin typeface="Calibri" pitchFamily="34" charset="0"/>
                <a:ea typeface="Calibri" pitchFamily="34" charset="-122"/>
                <a:cs typeface="Calibri" pitchFamily="34" charset="-120"/>
              </a:rPr>
              <a:t>Source: Ensemble ML across 14 forecast targets  |  Endogenous variables (lagged growth, market share, balance-sheet levels) excluded</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548</Words>
  <Application>Microsoft Macintosh PowerPoint</Application>
  <PresentationFormat>Widescreen</PresentationFormat>
  <Paragraphs>32</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 Growth Drivers — Importance &amp; Lead Time</dc:title>
  <dc:subject>PptxGenJS Presentation</dc:subject>
  <dc:creator>CU Growth Forecast</dc:creator>
  <cp:lastModifiedBy>Saurabh Datta</cp:lastModifiedBy>
  <cp:revision>2</cp:revision>
  <dcterms:created xsi:type="dcterms:W3CDTF">2026-04-28T17:43:27Z</dcterms:created>
  <dcterms:modified xsi:type="dcterms:W3CDTF">2026-04-28T19:43:43Z</dcterms:modified>
</cp:coreProperties>
</file>